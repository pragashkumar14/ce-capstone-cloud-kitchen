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8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28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Six sections coming: architecture, automation, security, observability, live demo, cost &amp; lessons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HTTPS via Route53/ACM → ALB across 3 AZs → Auto Scaling Group (stateless) → RDS</a:t>
            </a:r>
          </a:p>
          <a:p>
            <a:pPr lvl="0"/>
            <a:r>
              <a:rPr lang="en-GB" dirty="0"/>
              <a:t>Instances cycled dozens of times during testing, never lost data — that's the point of stateless</a:t>
            </a:r>
          </a:p>
          <a:p>
            <a:pPr lvl="0"/>
            <a:r>
              <a:rPr lang="en-GB" dirty="0"/>
              <a:t>Menu images go straight from S3 to the browser, never touch the app servers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3 AZs, 3-6 auto-scaled instances, 100% Terraform, zero SSH access</a:t>
            </a:r>
          </a:p>
          <a:p>
            <a:pPr lvl="0"/>
            <a:r>
              <a:rPr lang="en-GB" dirty="0"/>
              <a:t>Network split into public/private-app/private-</a:t>
            </a:r>
            <a:r>
              <a:rPr lang="en-GB" dirty="0" err="1"/>
              <a:t>db</a:t>
            </a:r>
            <a:r>
              <a:rPr lang="en-GB" dirty="0"/>
              <a:t>, security groups enforce each tier only reachable from the one in front of it</a:t>
            </a:r>
          </a:p>
          <a:p>
            <a:pPr lvl="0"/>
            <a:r>
              <a:rPr lang="en-GB" dirty="0"/>
              <a:t>Single NAT Gateway shared across all AZs — deliberate cost trade-off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App code deploys automatically on every push, no manual gate</a:t>
            </a:r>
          </a:p>
          <a:p>
            <a:pPr lvl="0"/>
            <a:r>
              <a:rPr lang="en-GB" dirty="0"/>
              <a:t>Infra changes require a human-triggered apply, with automated tests first</a:t>
            </a:r>
          </a:p>
          <a:p>
            <a:pPr lvl="0"/>
            <a:r>
              <a:rPr lang="en-GB" dirty="0" err="1"/>
              <a:t>Terratest</a:t>
            </a:r>
            <a:r>
              <a:rPr lang="en-GB" dirty="0"/>
              <a:t> checks syntax + drift — intentionally plan-only, not a full destroy/rebuild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648 Prowler checks, 32 </a:t>
            </a:r>
            <a:r>
              <a:rPr lang="en-GB" dirty="0" err="1"/>
              <a:t>Trivy</a:t>
            </a:r>
            <a:r>
              <a:rPr lang="en-GB" dirty="0"/>
              <a:t> findings — 3 real fixes applied (IMDSv2, ALB header hardening, SG documentation)</a:t>
            </a:r>
          </a:p>
          <a:p>
            <a:pPr lvl="0"/>
            <a:r>
              <a:rPr lang="en-GB" dirty="0"/>
              <a:t>3 of 4 AWS Config rules compliant; the 4th is a deliberate, scoped exception (public read only on menu images)</a:t>
            </a:r>
          </a:p>
          <a:p>
            <a:pPr lvl="0"/>
            <a:r>
              <a:rPr lang="en-GB" dirty="0"/>
              <a:t>Kitchen staff endpoints were open to anyone at one point — now behind HTTP Basic Auth, credentials in Secrets Manager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Real error → CloudWatch metric → alarm (2 consecutive breaches) → SNS → email</a:t>
            </a:r>
          </a:p>
          <a:p>
            <a:pPr lvl="0"/>
            <a:r>
              <a:rPr lang="en-GB" dirty="0"/>
              <a:t>Will trigger this live in a few minutes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Only real charge so far: $1.18 (domain) — AWS infra still running, not yet invoiced</a:t>
            </a:r>
          </a:p>
          <a:p>
            <a:pPr lvl="0"/>
            <a:r>
              <a:rPr lang="en-GB" dirty="0"/>
              <a:t>Biggest monthly line item: NAT Gateway (~$32)</a:t>
            </a:r>
          </a:p>
          <a:p>
            <a:pPr lvl="0"/>
            <a:r>
              <a:rPr lang="en-GB" dirty="0"/>
              <a:t>5 optimization choices made deliberately, not by accident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3 real incidents: wrong AWS account, GitHub rate-limiting, a security fix that silently broke alerting</a:t>
            </a:r>
          </a:p>
          <a:p>
            <a:pPr lvl="0"/>
            <a:r>
              <a:rPr lang="en-GB" dirty="0"/>
              <a:t>What's next: Multi-AZ RDS, proper KMS key policy, secret rotation, WAF, per-user staff access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ragashkumar14/ce-capstone-cloud-kitchen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am-kitchen.online/kitche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m-kitchen.online" TargetMode="External"/><Relationship Id="rId5" Type="http://schemas.openxmlformats.org/officeDocument/2006/relationships/image" Target="../media/image7.jpg"/><Relationship Id="rId4" Type="http://schemas.microsoft.com/office/2007/relationships/hdphoto" Target="../media/hdphoto1.wdp"/><Relationship Id="rId9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ragashkumar14/ce-capstone-cloud-kitchen" TargetMode="External"/><Relationship Id="rId4" Type="http://schemas.openxmlformats.org/officeDocument/2006/relationships/hyperlink" Target="https://pam-kitchen.onl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28752" y="1554480"/>
            <a:ext cx="10698480" cy="1188720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PAM</a:t>
            </a: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6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</a:t>
            </a:r>
            <a:endParaRPr lang="en-US" sz="6800" dirty="0">
              <a:solidFill>
                <a:srgbClr val="00B05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3108960" y="2628900"/>
            <a:ext cx="10698480" cy="548640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Multi-Cuisine Ordering Platform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3275214" y="3177540"/>
            <a:ext cx="10698480" cy="365760"/>
          </a:xfrm>
          <a:prstGeom prst="rect">
            <a:avLst/>
          </a:prstGeom>
          <a:noFill/>
          <a:ln/>
          <a:effectLst>
            <a:outerShdw blurRad="101600" dist="38100" dir="5400000" algn="bl" rotWithShape="0">
              <a:srgbClr val="000000">
                <a:alpha val="7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Pragash Kumaravel  ·  Ironhack Cloud Engineering Capstone  ·  September 2026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345966-3F7F-5E19-B634-2E24D337F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700" y="4572000"/>
            <a:ext cx="3674398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8915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2D8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176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built — network, compute, data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457200" cy="457200"/>
          </a:xfrm>
          <a:prstGeom prst="ellipse">
            <a:avLst/>
          </a:prstGeom>
          <a:solidFill>
            <a:srgbClr val="2D8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6217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39712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839712" y="2176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pipeline, from commit to production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2D8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36393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scans, real 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real fixes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3337560"/>
            <a:ext cx="457200" cy="457200"/>
          </a:xfrm>
          <a:prstGeom prst="ellipse">
            <a:avLst/>
          </a:prstGeom>
          <a:solidFill>
            <a:srgbClr val="2D8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217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839712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39712" y="36393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alarms, and a live-fired demo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2D8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170432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170432" y="51023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 real order, 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17920" y="4800600"/>
            <a:ext cx="457200" cy="457200"/>
          </a:xfrm>
          <a:prstGeom prst="ellipse">
            <a:avLst/>
          </a:prstGeom>
          <a:solidFill>
            <a:srgbClr val="2D8A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 txBox="1"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839712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Lessons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839712" y="51023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cost, and what broke 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</a:t>
            </a: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4A90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69942" y="0"/>
            <a:ext cx="4206240" cy="6858000"/>
          </a:xfrm>
          <a:prstGeom prst="rect">
            <a:avLst/>
          </a:prstGeom>
          <a:solidFill>
            <a:srgbClr val="1F6B38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F3DAFA-EE46-03AA-EA34-6D921FF54B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457200" y="1005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through Route53 and ACM, into a load balancer spanning three Availability Zones, an Auto Scaling Group of stateless app instances, and RDS for orders and menu data. Menu images are served directly from S3 — never touching the app </a:t>
            </a:r>
            <a:r>
              <a:rPr lang="en-US" sz="20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tier.</a:t>
            </a:r>
            <a:endParaRPr lang="en-US" sz="2000" b="1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pam-kitchen.online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Image 0" descr="/home/claude/deck/assets/architecture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978" y="523069"/>
            <a:ext cx="6949440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Resilience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3756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333756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3–6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instances, auto-scaled on CPU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12648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zero manual console changes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915400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891540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 — SSM Session Manager only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794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segmented into public, private-app, and private-db subnets — three security groups enforce that each tier can only be reached from the tier directly in front of it, with route tables sending private-subnet traffic through a shared NAT Gateway rather than exposing it directly.</a:t>
            </a:r>
            <a:endParaRPr lang="en-US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NAT Gateway shared across all 3 AZs — a deliberate cost trade-off, documented in COSTS.md.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8269" y="4526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Production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36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paths run on every push: application code deploys automatically, while infrastructure changes are validated first and applied only on a human-triggered gate — nothing reaches production untested.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73152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0156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lands on main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172968" y="31546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2331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356616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40156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tests, Terraform lint, Terratest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07608" y="31546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17920" y="2331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40080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(App)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40156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Auto-zipped to a private S3 bucket — instances pull on boot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42248" y="31546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052560" y="2331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 txBox="1"/>
          <p:nvPr/>
        </p:nvSpPr>
        <p:spPr>
          <a:xfrm>
            <a:off x="923544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(Infra)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340156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trigger, Terratest pre-apply check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Terratest suite: syntax validation + drift detection (asserts “No changes” against live infra)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Not Assumed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648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checks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6459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333756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findings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6459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12648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compliant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15400" y="164592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891540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2461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findings across the Terraform code; 3 real fixes applied — IMDSv2 enforcement, ALB invalid-header dropping, and documented security group rules. The rest are deliberate, documented trade-offs (e.g. a public ALB is intentional for a public site).</a:t>
            </a:r>
            <a:endParaRPr lang="en-US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2519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rules pass — RDS encryption, RDS not publicly accessible, no open SSH. The 4th flags the S3 images bucket, which is a deliberate, scoped exception: public read on the images/ prefix only, needed to serve menu photos.</a:t>
            </a:r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578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staff access: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/kitchen and its management endpoints were open to anyone with the URL for a stretch of development. Now protected with HTTP Basic Auth, credentials auto-generated and stored in Secrets Manager — never hardcoded.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r>
              <a:rPr lang="en-US" sz="2000" b="1" kern="0" spc="200" dirty="0">
                <a:solidFill>
                  <a:srgbClr val="2D8A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Breaks, We'll Know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Error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523744" y="26974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679192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2679192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54296" y="26974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809744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D62728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4809744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periods)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26974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940296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6940296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26974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070848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9070848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6804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tested pipeline — not a mock. In rehearsal, a deliberately ramped error burst (4 → 6 → 8 → 10 → 12 errors) climbed visibly on the dashboard, tripped the alarm mid-ramp, and a real notification arrived within minutes.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DC3DFC-5A99-83A8-D66F-E63FDBED9A07}"/>
              </a:ext>
            </a:extLst>
          </p:cNvPr>
          <p:cNvSpPr txBox="1"/>
          <p:nvPr/>
        </p:nvSpPr>
        <p:spPr>
          <a:xfrm>
            <a:off x="2989673" y="4758229"/>
            <a:ext cx="620960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1 dashboard, 7 widgets, 1 screen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Golden signals: Traffic · Errors · Latency (</a:t>
            </a:r>
            <a:r>
              <a:rPr lang="en-GB" sz="2000" dirty="0" err="1">
                <a:solidFill>
                  <a:schemeClr val="bg1"/>
                </a:solidFill>
              </a:rPr>
              <a:t>avg</a:t>
            </a:r>
            <a:r>
              <a:rPr lang="en-GB" sz="2000" dirty="0">
                <a:solidFill>
                  <a:schemeClr val="bg1"/>
                </a:solidFill>
              </a:rPr>
              <a:t> + p95) · Saturation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Plus: RDS CPU, real-time alarm status, business signals (orders, revenue)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6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ED655A5-7B1D-34C8-37CD-58CC68589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Place an Order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infrastructure. Real traffic. Real alarms.</a:t>
            </a:r>
            <a:endParaRPr lang="en-US" sz="1800" dirty="0"/>
          </a:p>
        </p:txBody>
      </p:sp>
      <p:pic>
        <p:nvPicPr>
          <p:cNvPr id="6" name="Image 0" descr="/home/claude/deck/assets/pickup-order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1479395"/>
            <a:ext cx="5905686" cy="4921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999232"/>
            <a:ext cx="109728" cy="109728"/>
          </a:xfrm>
          <a:prstGeom prst="ellipse">
            <a:avLst/>
          </a:prstGeom>
          <a:solidFill>
            <a:srgbClr val="8FE3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10058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2000" dirty="0"/>
          </a:p>
        </p:txBody>
      </p:sp>
      <p:sp>
        <p:nvSpPr>
          <p:cNvPr id="9" name="Text 6">
            <a:hlinkClick r:id="rId6"/>
          </p:cNvPr>
          <p:cNvSpPr txBox="1"/>
          <p:nvPr/>
        </p:nvSpPr>
        <p:spPr>
          <a:xfrm>
            <a:off x="1005840" y="3218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https://pam-kitchen.online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77240" y="3776472"/>
            <a:ext cx="109728" cy="109728"/>
          </a:xfrm>
          <a:prstGeom prst="ellipse">
            <a:avLst/>
          </a:prstGeom>
          <a:solidFill>
            <a:srgbClr val="8FE3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100584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view</a:t>
            </a:r>
            <a:endParaRPr lang="en-US" sz="2000" dirty="0"/>
          </a:p>
        </p:txBody>
      </p:sp>
      <p:sp>
        <p:nvSpPr>
          <p:cNvPr id="12" name="Text 9">
            <a:hlinkClick r:id="rId7"/>
          </p:cNvPr>
          <p:cNvSpPr txBox="1"/>
          <p:nvPr/>
        </p:nvSpPr>
        <p:spPr>
          <a:xfrm>
            <a:off x="1005840" y="3995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https://pam-kitchen.online/kitchen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77240" y="4553712"/>
            <a:ext cx="109728" cy="109728"/>
          </a:xfrm>
          <a:prstGeom prst="ellipse">
            <a:avLst/>
          </a:prstGeom>
          <a:solidFill>
            <a:srgbClr val="8FE3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100584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2000" dirty="0"/>
          </a:p>
        </p:txBody>
      </p:sp>
      <p:sp>
        <p:nvSpPr>
          <p:cNvPr id="15" name="Text 12">
            <a:hlinkClick r:id="rId8"/>
          </p:cNvPr>
          <p:cNvSpPr txBox="1"/>
          <p:nvPr/>
        </p:nvSpPr>
        <p:spPr>
          <a:xfrm>
            <a:off x="100584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https://github.com/pragashkumar14/</a:t>
            </a:r>
            <a:r>
              <a:rPr lang="en-US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ce-capstone-cloud-kitchen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43F839-E56F-E0B2-D85D-71ABB8B7EF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928" y="1610800"/>
            <a:ext cx="5615424" cy="46338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by Design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4572000" cy="1920240"/>
          </a:xfrm>
          <a:prstGeom prst="roundRect">
            <a:avLst>
              <a:gd name="adj" fmla="val 5714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8FE3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FE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$1.18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51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amount paid to date — domain registration only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has no invoice yet — it's running now and accruing. Prorated for the actual ~1 week of use, that estimate lands around $23.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336404"/>
              </p:ext>
            </p:extLst>
          </p:nvPr>
        </p:nvGraphicFramePr>
        <p:xfrm>
          <a:off x="5394960" y="1417320"/>
          <a:ext cx="6126480" cy="411369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(if run 24/7)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(3× t3.micro)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Route53, Secrets, Config, CloudWatch, SNS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8006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NAT Gateway instead of one per AZ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Single-AZ RDS — no idle standby replica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 throughout — sized for demo 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 disabled on the domain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backup retention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01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28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8F0">
              <a:alpha val="9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608076" y="89611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— and What's Next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666666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777240" y="1874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AWS account, silently.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128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leftover environment variable pointed every command at Miguel's account. Fixed by verifying identity before every apply.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666666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777240" y="2971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rate-limited us mid-build.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101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testing from one shared NAT IP tripped GitHub's abuse detection. Solved by moving deployment to S3 entirely.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666666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777240" y="4069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fix silently broke alerting.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4074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the SNS topic blocked CloudWatch from publishing to it — found via the alarm's own action history.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184648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F6B38">
              <a:alpha val="92000"/>
            </a:srgbClr>
          </a:solidFill>
          <a:ln/>
          <a:effectLst>
            <a:outerShdw blurRad="76200" dist="25400" dir="5400000" algn="bl" rotWithShape="0">
              <a:srgbClr val="666666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777240" y="52760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Be Improved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623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RDS with automated failover · customer-managed KMS key for SNS with a correctly scoped policy · Secrets Manager rotation · a WAF layer in front of the ALB · role-based access for kitchen staff instead of one shared credential.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ite_menu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Kitchen — </a:t>
            </a:r>
            <a:r>
              <a:rPr lang="en-US" sz="28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ragash, </a:t>
            </a:r>
            <a:r>
              <a:rPr lang="en-US" sz="28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dharvaa, </a:t>
            </a:r>
            <a:r>
              <a:rPr lang="en-US" sz="28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eera.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site:  </a:t>
            </a:r>
            <a:endParaRPr lang="en-US" sz="2000" dirty="0"/>
          </a:p>
        </p:txBody>
      </p:sp>
      <p:sp>
        <p:nvSpPr>
          <p:cNvPr id="6" name="Text 3">
            <a:hlinkClick r:id="rId4"/>
          </p:cNvPr>
          <p:cNvSpPr txBox="1"/>
          <p:nvPr/>
        </p:nvSpPr>
        <p:spPr>
          <a:xfrm>
            <a:off x="3496749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https://pam-kitchen.online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63440"/>
            <a:ext cx="2198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r>
              <a:rPr lang="en-US" sz="1600" b="1" dirty="0">
                <a:solidFill>
                  <a:srgbClr val="8FE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endParaRPr lang="en-US" sz="1600" dirty="0"/>
          </a:p>
        </p:txBody>
      </p:sp>
      <p:sp>
        <p:nvSpPr>
          <p:cNvPr id="8" name="Text 5">
            <a:hlinkClick r:id="rId5"/>
          </p:cNvPr>
          <p:cNvSpPr txBox="1"/>
          <p:nvPr/>
        </p:nvSpPr>
        <p:spPr>
          <a:xfrm>
            <a:off x="347472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https://github.com/pragashkumar14/ce-capstone-cloud-kitchen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1281</Words>
  <Application>Microsoft Office PowerPoint</Application>
  <PresentationFormat>Widescreen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pragash kumar</cp:lastModifiedBy>
  <cp:revision>5</cp:revision>
  <dcterms:created xsi:type="dcterms:W3CDTF">2026-09-03T14:18:25Z</dcterms:created>
  <dcterms:modified xsi:type="dcterms:W3CDTF">2026-09-04T08:44:59Z</dcterms:modified>
</cp:coreProperties>
</file>